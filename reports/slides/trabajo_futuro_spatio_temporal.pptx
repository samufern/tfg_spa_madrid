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Trabajo futuro — Prediccion espacio-temporal multivariable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  <a:latin typeface="Calibri"/>
              </a:rPr>
              <a:t>Hacia un modelo que capture dinamica del mercado y vecindad espacial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85216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63946"/>
                </a:solidFill>
                <a:latin typeface="Calibri"/>
              </a:rPr>
              <a:t>Limitacion del modelo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Dataset = snapshot puntual (Nov 2025): no capta dinamica temporal.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Predice valor instantaneo, no expectativa futura del mercado.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No modela explicitamente la influencia de los pisos vecinos.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Series INE (IPC, IRAV) demasiado agregadas para dinamica por barrio.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66928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Propuesta: arquitectura hibrida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GNN espacial -&gt; el precio depende de los pisos cercanos.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LSTM / Transformer temporal -&gt; evolucion por zona.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Variables exogenas -&gt; IPC, IRAV, oferta del mercado.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Pipeline ya preparado: features temporales aisladas, snapshot, validacion temporal.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703320"/>
            <a:ext cx="5852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Datos requeridos para entrenar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5486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Rescrapeo mensual durante 12-18 meses.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Microdatos INE por distrito + indicadores de oferta/demanda.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2C3E50"/>
                </a:solidFill>
                <a:latin typeface="Calibri"/>
              </a:rPr>
              <a:t>Histograma temporal de transacciones reales (Catastro / portales).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669280" cy="18288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Por que aporta 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51960"/>
            <a:ext cx="5486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FFFFFF"/>
                </a:solidFill>
                <a:latin typeface="Calibri"/>
              </a:rPr>
              <a:t>Predice expectativa futura, no solo el estado actual.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FFFFFF"/>
                </a:solidFill>
                <a:latin typeface="Calibri"/>
              </a:rPr>
              <a:t>Captura autocorrelacion espacial (Tobler).</a:t>
            </a: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• </a:t>
            </a:r>
            <a:r>
              <a:rPr sz="1300">
                <a:solidFill>
                  <a:srgbClr val="FFFFFF"/>
                </a:solidFill>
                <a:latin typeface="Calibri"/>
              </a:rPr>
              <a:t>Mejora esperada del MAE: 5-15% sobre el baseline tabular.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715000"/>
            <a:ext cx="11612880" cy="9144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1C40F"/>
                </a:solidFill>
                <a:latin typeface="Calibri"/>
              </a:rPr>
              <a:t>“</a:t>
            </a:r>
            <a:r>
              <a:rPr sz="1500" i="1">
                <a:solidFill>
                  <a:srgbClr val="FFFFFF"/>
                </a:solidFill>
                <a:latin typeface="Calibri"/>
              </a:rPr>
              <a:t>Un piso no vale solo por lo que es hoy, sino por la expectativa futura del mercado y por lo que valen sus vecinos.</a:t>
            </a:r>
            <a:r>
              <a:rPr sz="2000" b="1">
                <a:solidFill>
                  <a:srgbClr val="F1C40F"/>
                </a:solidFill>
                <a:latin typeface="Calibri"/>
              </a:rPr>
              <a:t>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